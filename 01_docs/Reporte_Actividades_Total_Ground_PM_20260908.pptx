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601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antecedentes proporcionados por Total Ground en la solicitud.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antecedentes proporcionados por Total Ground en la solicitud.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antecedentes proporcionados por Total Ground en la solicitud.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antecedentes proporcionados por Total Ground en la solicitud.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antecedentes proporcionados por Total Ground en la solicitud.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antecedentes proporcionados por Total Ground en la solicitud.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antecedentes proporcionados por Total Ground en la solicitud.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antecedentes proporcionados por Total Ground en la solicitud.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antecedentes proporcionados por Total Ground en la solicitud.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antecedentes proporcionados por Total Ground en la solicitud.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antecedentes proporcionados por Total Ground en la solicitud.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antecedentes proporcionados por Total Ground en la solicitud.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 de actividades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13232" y="18745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7085"/>
                </a:solidFill>
              </a:rPr>
              <a:t>Epic: Telemetria | Gestion de plataforma, datos, seguridad e infraestructura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432304"/>
            <a:ext cx="420624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13232" y="27889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</a:rPr>
              <a:t>Fecha: 7 de septiembre de 2026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3127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</a:rPr>
              <a:t>Rol: Project Manager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0" y="1051560"/>
            <a:ext cx="2377440" cy="0"/>
          </a:xfrm>
          <a:prstGeom prst="line">
            <a:avLst/>
          </a:prstGeom>
          <a:noFill/>
          <a:ln w="381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458200" y="15087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63B"/>
                </a:solidFill>
              </a:rPr>
              <a:t>7 frentes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45820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17085"/>
                </a:solidFill>
              </a:rPr>
              <a:t>Gestionados como portafolio de actividades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0" y="2788920"/>
            <a:ext cx="2377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458200" y="3246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A058"/>
                </a:solidFill>
              </a:rPr>
              <a:t>P0-P3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458200" y="3794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17085"/>
                </a:solidFill>
              </a:rPr>
              <a:t>Priorizacion sugerida por dependencia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0" y="4526280"/>
            <a:ext cx="2377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458200" y="4983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</a:rPr>
              <a:t>Roadmap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458200" y="5532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17085"/>
                </a:solidFill>
              </a:rPr>
              <a:t>Preparacion, fundacion, UI y operacion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Ground | Reporte de actividades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7085"/>
                </a:solidFill>
              </a:rPr>
              <a:t>01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4" name="Picture 1">
            <a:extLst>
              <a:ext uri="{FF2B5EF4-FFF2-40B4-BE49-F238E27FC236}">
                <a16:creationId xmlns:a16="http://schemas.microsoft.com/office/drawing/2014/main" id="{023CE53B-B57A-0167-1BE6-8D6DAB9372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179705"/>
            <a:ext cx="2835275" cy="6007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5EEF"/>
                </a:solidFill>
              </a:rPr>
              <a:t>VISION PM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ejecutivo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" y="1636776"/>
            <a:ext cx="502920" cy="0"/>
          </a:xfrm>
          <a:prstGeom prst="line">
            <a:avLst/>
          </a:prstGeom>
          <a:noFill/>
          <a:ln w="254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335024" y="1527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B"/>
                </a:solidFill>
              </a:rPr>
              <a:t>Gobierno del proyecto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35024" y="181965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17085"/>
                </a:solidFill>
              </a:rPr>
              <a:t>Requerimientos, backlog, documentacion compartida, SCRUM y seguimiento en Jira/Confluence.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713232" y="2715768"/>
            <a:ext cx="502920" cy="0"/>
          </a:xfrm>
          <a:prstGeom prst="line">
            <a:avLst/>
          </a:prstGeom>
          <a:noFill/>
          <a:ln w="254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335024" y="2606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B"/>
                </a:solidFill>
              </a:rPr>
              <a:t>Arquitectura tecnica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35024" y="289864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17085"/>
                </a:solidFill>
              </a:rPr>
              <a:t>API Hook, API DB, MySQL, Angular, PHP, ambientes DEV/STAGE/PROD y modelo de datos.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13232" y="3794760"/>
            <a:ext cx="50292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1335024" y="36850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B"/>
                </a:solidFill>
              </a:rPr>
              <a:t>Producto operativo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35024" y="397764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17085"/>
                </a:solidFill>
              </a:rPr>
              <a:t>Modulos de seguridad, telemetria, reportes, alarmas, dashboards, catalogos y multilenguaje.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86384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</a:rPr>
              <a:t>Lectura PM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26680" y="187452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889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7891272" y="2011680"/>
            <a:ext cx="314553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</a:rPr>
              <a:t>El listado combina actividades de gestion, habilitadores tecnicos y funcionalidades de producto. La prioridad inicial debe enfocarse en dependencias: gobierno, repositorio, ambientes, seguridad, API y base de datos.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26680" y="324612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EAF7EF"/>
          </a:solidFill>
          <a:ln w="889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7891272" y="3383280"/>
            <a:ext cx="314553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</a:rPr>
              <a:t>Recomendacion: separar el backlog en epicas, features y tareas tecnicas; despues asignar responsables, estado, esfuerzo y fecha objetivo.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26680" y="448056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FFF5E5"/>
          </a:solidFill>
          <a:ln w="889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7891272" y="4617720"/>
            <a:ext cx="314553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</a:rPr>
              <a:t>Riesgo principal: iniciar desarrollo de modulos sin estandarizar flujo DevOps, definicion de datos, contratos de API y criterios de calidad.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Ground | Reporte de actividades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7085"/>
                </a:solidFill>
              </a:rPr>
              <a:t>02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5EEF"/>
                </a:solidFill>
              </a:rPr>
              <a:t>PORTAFOLIO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actividades por frente de trabajo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13533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</a:rPr>
              <a:t>Gobierno y colaboracion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429000" y="1353312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63B"/>
                </a:solidFill>
              </a:rPr>
              <a:t>Requerimientos, backlog, Jira, Confluence, SCRUM, documentacion compartida.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107442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13232" y="1901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</a:rPr>
              <a:t>DevOps e infraestructura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29000" y="1901952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63B"/>
                </a:solidFill>
              </a:rPr>
              <a:t>Git, VS Code, Sonar, Jenkins/Pipes, servidores DEV/STAGE/PROD, certificado HTTPS.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107442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13232" y="24505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</a:rPr>
              <a:t>Arquitectura y APIs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29000" y="2450592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63B"/>
                </a:solidFill>
              </a:rPr>
              <a:t>API Hook, API DB, PHP, comunicacion Angular-API, comunicacion BD, arquitectura MySQL/API/Angular/PHP.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107442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13232" y="29992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</a:rPr>
              <a:t>Datos y telemetria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29000" y="2999232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63B"/>
                </a:solidFill>
              </a:rPr>
              <a:t>Medidores, tipos, dispositivos, tramas LoRa, unidades, variables, campos calculados, arbol BD.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85800" y="3383280"/>
            <a:ext cx="107442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713232" y="35478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</a:rPr>
              <a:t>Frontend y experiencia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29000" y="3547872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63B"/>
                </a:solidFill>
              </a:rPr>
              <a:t>Angular 21/22, menu, modulos, select, CRUD, componentes, identidad grafica, Android, iOS, Xcode.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85800" y="3931920"/>
            <a:ext cx="107442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713232" y="40965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</a:rPr>
              <a:t>Seguridad y configuracion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29000" y="4096512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63B"/>
                </a:solidFill>
              </a:rPr>
              <a:t>Login, sesion, derechos, grupos, membresias, tokens, licencias, multilenguaje, configuracion BD.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85800" y="4480560"/>
            <a:ext cx="107442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713232" y="46451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</a:rPr>
              <a:t>Operacion y analitica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29000" y="4645152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63B"/>
                </a:solidFill>
              </a:rPr>
              <a:t>Displays, graficas, reportes, alarmas, dashboard, tiempo real, historicos, mensajes, errores.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85800" y="5029200"/>
            <a:ext cx="107442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685800" y="5715000"/>
            <a:ext cx="3291840" cy="310896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758952" y="578358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5EEF"/>
                </a:solidFill>
              </a:rPr>
              <a:t>Salida esperada: backlog clasificado y ejecutable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206240" y="5715000"/>
            <a:ext cx="3383280" cy="310896"/>
          </a:xfrm>
          <a:prstGeom prst="roundRect">
            <a:avLst>
              <a:gd name="adj" fmla="val 1764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4279392" y="5783580"/>
            <a:ext cx="3236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A058"/>
                </a:solidFill>
              </a:rPr>
              <a:t>Siguiente paso: asignar estado, responsable y fecha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818120" y="5715000"/>
            <a:ext cx="3291840" cy="310896"/>
          </a:xfrm>
          <a:prstGeom prst="roundRect">
            <a:avLst>
              <a:gd name="adj" fmla="val 17647"/>
            </a:avLst>
          </a:prstGeom>
          <a:solidFill>
            <a:srgbClr val="FFF5E5"/>
          </a:solidFill>
          <a:ln w="12700">
            <a:solidFill>
              <a:srgbClr val="FFF5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7891272" y="578358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Riesgo: mezcla de tareas sin dependencia visible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Ground | Reporte de actividades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7085"/>
                </a:solidFill>
              </a:rPr>
              <a:t>03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5EEF"/>
                </a:solidFill>
              </a:rPr>
              <a:t>GESTION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Actividades de gobierno del proyecto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472184"/>
            <a:ext cx="73152" cy="73152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41832" y="14173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Formalizar manejo de requerimientos y backlog en documentos Word iniciales.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29384"/>
            <a:ext cx="73152" cy="73152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41832" y="18745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Implementar Jira para planeacion SCRUM, seguimiento de tareas, responsables y estado.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386584"/>
            <a:ext cx="73152" cy="73152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941832" y="23317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Centralizar documentacion en Confluence Atlassian para decisiones, contratos y evidencias.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843784"/>
            <a:ext cx="73152" cy="73152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41832" y="27889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Estandarizar control de versiones con Git y conexion de Visual Studio Code.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300984"/>
            <a:ext cx="73152" cy="73152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941832" y="32461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Definir tablero operativo con epicas, features, historias y tareas tecnicas.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0" y="1371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</a:rPr>
              <a:t>Flujo sugerido de gestion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0" y="1783080"/>
            <a:ext cx="2331720" cy="384048"/>
          </a:xfrm>
          <a:prstGeom prst="chevron">
            <a:avLst/>
          </a:prstGeom>
          <a:solidFill>
            <a:srgbClr val="EAF2FF"/>
          </a:solidFill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7452360" y="1874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63B"/>
                </a:solidFill>
              </a:rPr>
              <a:t>Captura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0" y="2496312"/>
            <a:ext cx="2331720" cy="384048"/>
          </a:xfrm>
          <a:prstGeom prst="chevron">
            <a:avLst/>
          </a:prstGeom>
          <a:solidFill>
            <a:srgbClr val="EAF2FF"/>
          </a:solidFill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7452360" y="25877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63B"/>
                </a:solidFill>
              </a:rPr>
              <a:t>Analisis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0" y="3209544"/>
            <a:ext cx="2331720" cy="384048"/>
          </a:xfrm>
          <a:prstGeom prst="chevron">
            <a:avLst/>
          </a:prstGeom>
          <a:solidFill>
            <a:srgbClr val="EAF7EF"/>
          </a:solidFill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7452360" y="33009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63B"/>
                </a:solidFill>
              </a:rPr>
              <a:t>Backlog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0" y="3922776"/>
            <a:ext cx="2331720" cy="384048"/>
          </a:xfrm>
          <a:prstGeom prst="chevron">
            <a:avLst/>
          </a:prstGeom>
          <a:solidFill>
            <a:srgbClr val="EAF7EF"/>
          </a:solidFill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7452360" y="40142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63B"/>
                </a:solidFill>
              </a:rPr>
              <a:t>Sprint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0" y="4636008"/>
            <a:ext cx="2331720" cy="384048"/>
          </a:xfrm>
          <a:prstGeom prst="chevron">
            <a:avLst/>
          </a:prstGeom>
          <a:solidFill>
            <a:srgbClr val="FFF5E5"/>
          </a:solidFill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7452360" y="47274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63B"/>
                </a:solidFill>
              </a:rPr>
              <a:t>Evidencia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4343400"/>
            <a:ext cx="621792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889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941832" y="4480560"/>
            <a:ext cx="58887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</a:rPr>
              <a:t>Entregable PM: matriz de actividades con prioridad, estado, responsable, dependencia, esfuerzo, fecha objetivo y evidencia.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Ground | Reporte de actividades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7085"/>
                </a:solidFill>
              </a:rPr>
              <a:t>04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5EEF"/>
                </a:solidFill>
              </a:rPr>
              <a:t>EJECUCION TECNICA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Habilitadores DevOps e infraestructura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</a:rPr>
              <a:t>Pipeline propuesto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50392" y="202996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B263B"/>
                </a:solidFill>
              </a:rPr>
              <a:t>Pull request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167128" y="2130552"/>
            <a:ext cx="228600" cy="0"/>
          </a:xfrm>
          <a:prstGeom prst="line">
            <a:avLst/>
          </a:prstGeom>
          <a:noFill/>
          <a:ln w="15240">
            <a:solidFill>
              <a:srgbClr val="61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2468880" y="187452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EAF7EF"/>
          </a:solidFill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542032" y="202996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B263B"/>
                </a:solidFill>
              </a:rPr>
              <a:t>Calidad / Sonar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858768" y="2130552"/>
            <a:ext cx="228600" cy="0"/>
          </a:xfrm>
          <a:prstGeom prst="line">
            <a:avLst/>
          </a:prstGeom>
          <a:noFill/>
          <a:ln w="15240">
            <a:solidFill>
              <a:srgbClr val="61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160520" y="187452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EAF7EF"/>
          </a:solidFill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233672" y="202996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B263B"/>
                </a:solidFill>
              </a:rPr>
              <a:t>Compila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550408" y="2130552"/>
            <a:ext cx="228600" cy="0"/>
          </a:xfrm>
          <a:prstGeom prst="line">
            <a:avLst/>
          </a:prstGeom>
          <a:noFill/>
          <a:ln w="15240">
            <a:solidFill>
              <a:srgbClr val="61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852160" y="187452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FFF5E5"/>
          </a:solidFill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925312" y="202996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B263B"/>
                </a:solidFill>
              </a:rPr>
              <a:t>Deploy STAGE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242048" y="2130552"/>
            <a:ext cx="228600" cy="0"/>
          </a:xfrm>
          <a:prstGeom prst="line">
            <a:avLst/>
          </a:prstGeom>
          <a:noFill/>
          <a:ln w="15240">
            <a:solidFill>
              <a:srgbClr val="61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7543800" y="187452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FFF5E5"/>
          </a:solidFill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7616952" y="202996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B263B"/>
                </a:solidFill>
              </a:rPr>
              <a:t>Pruebas auto.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933688" y="2130552"/>
            <a:ext cx="228600" cy="0"/>
          </a:xfrm>
          <a:prstGeom prst="line">
            <a:avLst/>
          </a:prstGeom>
          <a:noFill/>
          <a:ln w="15240">
            <a:solidFill>
              <a:srgbClr val="61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9235440" y="187452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F1ECFF"/>
          </a:solidFill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9308592" y="202996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B263B"/>
                </a:solidFill>
              </a:rPr>
              <a:t>Deploy PROD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1143000" y="32461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EEF"/>
                </a:solidFill>
              </a:rPr>
              <a:t>DEV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43000" y="3639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17085"/>
                </a:solidFill>
              </a:rPr>
              <a:t>Desarrollo y pruebas tecnicas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34840" y="32461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QA / STAGE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434840" y="3639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17085"/>
                </a:solidFill>
              </a:rPr>
              <a:t>Validacion funcional y automatica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26680" y="32461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8A058"/>
                </a:solidFill>
              </a:rPr>
              <a:t>PROD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26680" y="3639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17085"/>
                </a:solidFill>
              </a:rPr>
              <a:t>Operacion controlada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" y="4754880"/>
            <a:ext cx="1037844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889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987552" y="4892040"/>
            <a:ext cx="100492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</a:rPr>
              <a:t>Actividades incluidas: control de versiones, Git + Visual Studio Code, Sonar, Jenkins/Pipes, servidores, mapeo IP publica, certificado y ambientes.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Ground | Reporte de actividades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7085"/>
                </a:solidFill>
              </a:rPr>
              <a:t>05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5EEF"/>
                </a:solidFill>
              </a:rPr>
              <a:t>ARQUITECTURA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de integracion y APIs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17085"/>
                </a:solidFill>
              </a:rPr>
              <a:t>Objetivo: desacoplar recepcion de datos, acceso a BD y consumo Front 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EAF2FF"/>
          </a:solidFill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96112" y="222199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63B"/>
                </a:solidFill>
              </a:rPr>
              <a:t>Dispositivo / LoRa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31720" y="2404872"/>
            <a:ext cx="502920" cy="0"/>
          </a:xfrm>
          <a:prstGeom prst="line">
            <a:avLst/>
          </a:prstGeom>
          <a:noFill/>
          <a:ln w="15240">
            <a:solidFill>
              <a:srgbClr val="617085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2880360" y="205740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EAF7EF"/>
          </a:solidFill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953512" y="222199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63B"/>
                </a:solidFill>
              </a:rPr>
              <a:t>API Hook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63B"/>
                </a:solidFill>
              </a:rPr>
              <a:t>PHP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2404872"/>
            <a:ext cx="502920" cy="0"/>
          </a:xfrm>
          <a:prstGeom prst="line">
            <a:avLst/>
          </a:prstGeom>
          <a:noFill/>
          <a:ln w="15240">
            <a:solidFill>
              <a:srgbClr val="617085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892040" y="205740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5E5"/>
          </a:solidFill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965192" y="222199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63B"/>
                </a:solidFill>
              </a:rPr>
              <a:t>MySQL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63B"/>
                </a:solidFill>
              </a:rPr>
              <a:t>tramas + lecturas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2404872"/>
            <a:ext cx="502920" cy="0"/>
          </a:xfrm>
          <a:prstGeom prst="line">
            <a:avLst/>
          </a:prstGeom>
          <a:noFill/>
          <a:ln w="15240">
            <a:solidFill>
              <a:srgbClr val="617085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6995160" y="205740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1ECFF"/>
          </a:solidFill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7068312" y="222199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63B"/>
                </a:solidFill>
              </a:rPr>
              <a:t>API DB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63B"/>
                </a:solidFill>
              </a:rPr>
              <a:t>PHP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03920" y="2404872"/>
            <a:ext cx="502920" cy="0"/>
          </a:xfrm>
          <a:prstGeom prst="line">
            <a:avLst/>
          </a:prstGeom>
          <a:noFill/>
          <a:ln w="15240">
            <a:solidFill>
              <a:srgbClr val="617085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9098280" y="205740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EAF2FF"/>
          </a:solidFill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9171432" y="222199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63B"/>
                </a:solidFill>
              </a:rPr>
              <a:t>Angular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63B"/>
                </a:solidFill>
              </a:rPr>
              <a:t>modulos UI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" y="3785616"/>
            <a:ext cx="502920" cy="0"/>
          </a:xfrm>
          <a:prstGeom prst="line">
            <a:avLst/>
          </a:prstGeom>
          <a:noFill/>
          <a:ln w="254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1490472" y="3675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B"/>
                </a:solidFill>
              </a:rPr>
              <a:t>Actividades relacionadas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412394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1078992" y="40690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Comunicación Angular API Hook para recepcion y almacenamiento de datos del dispositivo.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4553712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1078992" y="44988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Comunicación Angular API DB para interaccion de Front End con base de datos.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" y="4983480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1078992" y="492861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Documentar el body de API DB para Arbol y modulo de seguridad.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20840" y="3785616"/>
            <a:ext cx="50292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7342632" y="3675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B"/>
                </a:solidFill>
              </a:rPr>
              <a:t>Control PM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412394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6931152" y="40690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Definir contratos de API antes de consumirlos desde Angular.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66560" y="4553712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6931152" y="44988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Versionar endpoints, payloads, respuestas y codigos de error.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66560" y="4983480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6931152" y="49286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Agregar evidencias de pruebas y ejemplos de request/response.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Ground | Reporte de actividades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7085"/>
                </a:solidFill>
              </a:rPr>
              <a:t>06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5EEF"/>
                </a:solidFill>
              </a:rPr>
              <a:t>DATOS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Datos, telemetria y modelo operativo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5EEF"/>
                </a:solidFill>
              </a:rPr>
              <a:t>Catalogos base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9808" y="1828800"/>
            <a:ext cx="2331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</a:rPr>
              <a:t>Usuarios, grupos, membresia, dispositivos, variables, unidades de medida, tipos de dispositivo.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3246120"/>
            <a:ext cx="2240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538728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A058"/>
                </a:solidFill>
              </a:rPr>
              <a:t>Lectura remota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38728" y="1828800"/>
            <a:ext cx="2331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</a:rPr>
              <a:t>Download/save de trama LoRa, API recepcion de datos, validacion de tipos y latencia.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38728" y="3246120"/>
            <a:ext cx="2240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327648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Transformacion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27648" y="1828800"/>
            <a:ext cx="2331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</a:rPr>
              <a:t>Analizar track, campos calculados en tabla de lectura, VIEW con abreviaturas de unidades.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7648" y="3246120"/>
            <a:ext cx="2240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9116568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</a:rPr>
              <a:t>Consulta UI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16568" y="1828800"/>
            <a:ext cx="2331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</a:rPr>
              <a:t>Arbol de clasificacion, append dispositivo-tree, reportes, historicos, tiempo real y alarmas.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16568" y="3246120"/>
            <a:ext cx="2240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77724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</a:rPr>
              <a:t>Dependencia clave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37083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</a:rPr>
              <a:t>El diseño de BD para medidores, tipos, dispositivos, variables y unidades debe cerrarse antes de construir CRUD, select page, reportes, alarmas y dashboard.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5212080"/>
            <a:ext cx="4389120" cy="310896"/>
          </a:xfrm>
          <a:prstGeom prst="roundRect">
            <a:avLst>
              <a:gd name="adj" fmla="val 1764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50392" y="5280660"/>
            <a:ext cx="4242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2D20"/>
                </a:solidFill>
              </a:rPr>
              <a:t>Actividad critica: tabla de prueba CRUD IA con todos los tipos MySQL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0" y="5212080"/>
            <a:ext cx="4389120" cy="310896"/>
          </a:xfrm>
          <a:prstGeom prst="roundRect">
            <a:avLst>
              <a:gd name="adj" fmla="val 1764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559552" y="5280660"/>
            <a:ext cx="4242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2D20"/>
                </a:solidFill>
              </a:rPr>
              <a:t>Actividad critica: documentacion API BD para Arbol y Seguridad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Ground | Reporte de actividades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7085"/>
                </a:solidFill>
              </a:rPr>
              <a:t>07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5EEF"/>
                </a:solidFill>
              </a:rPr>
              <a:t>PRODUCTO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Frontend, movilidad y experiencia de usuario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263B"/>
                </a:solidFill>
              </a:rPr>
              <a:t>Angular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697480" y="1417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B263B"/>
                </a:solidFill>
              </a:rPr>
              <a:t>Angular 21/22, capacitacion, compilacion, menu, modulos, componentes, rutas, HTTP y comunicacion JSON.</a:t>
            </a:r>
            <a:endParaRPr lang="en-US" sz="1160" dirty="0"/>
          </a:p>
        </p:txBody>
      </p:sp>
      <p:sp>
        <p:nvSpPr>
          <p:cNvPr id="6" name="Shape 4"/>
          <p:cNvSpPr/>
          <p:nvPr/>
        </p:nvSpPr>
        <p:spPr>
          <a:xfrm>
            <a:off x="777240" y="1801368"/>
            <a:ext cx="102870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77240" y="19842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263B"/>
                </a:solidFill>
              </a:rPr>
              <a:t>Componentes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97480" y="19842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B263B"/>
                </a:solidFill>
              </a:rPr>
              <a:t>Select component, CRUD component, forma de seleccion de registro, conexion entre componentes y validaciones.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777240" y="2368296"/>
            <a:ext cx="102870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77240" y="255117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263B"/>
                </a:solidFill>
              </a:rPr>
              <a:t>Movil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97480" y="2551176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B263B"/>
                </a:solidFill>
              </a:rPr>
              <a:t>Compilacion Android, compilacion Xcode, automatic answer chat Android/iOS para respuesta en WhatsApp.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777240" y="2935224"/>
            <a:ext cx="102870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77240" y="31181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263B"/>
                </a:solidFill>
              </a:rPr>
              <a:t>Identidad grafica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97480" y="311810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B263B"/>
                </a:solidFill>
              </a:rPr>
              <a:t>Iconos, imagenes, menu, botones, fonts, diseno grafico compatible con identidad y presentacion CIMEDI.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777240" y="3502152"/>
            <a:ext cx="102870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868680" y="4471416"/>
            <a:ext cx="502920" cy="0"/>
          </a:xfrm>
          <a:prstGeom prst="line">
            <a:avLst/>
          </a:prstGeom>
          <a:noFill/>
          <a:ln w="254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490472" y="4361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B"/>
                </a:solidFill>
              </a:rPr>
              <a:t>Entregables esperados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809744"/>
            <a:ext cx="73152" cy="73152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1078992" y="47548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Libreria base de componentes reutilizables para seleccion, CRUD y validaciones.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5230368"/>
            <a:ext cx="73152" cy="73152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1078992" y="51755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Menu modular con organizacion de sistema y permisos conectados a seguridad.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37960" y="4471416"/>
            <a:ext cx="502920" cy="0"/>
          </a:xfrm>
          <a:prstGeom prst="line">
            <a:avLst/>
          </a:prstGeom>
          <a:noFill/>
          <a:ln w="254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7159752" y="4361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B"/>
                </a:solidFill>
              </a:rPr>
              <a:t>Control de calidad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480974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748272" y="47548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Pruebas de compilacion por version Angular y por plataforma movil.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5230368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6748272" y="517550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Checklist visual contra identidad grafica antes de liberar a QA.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Ground | Reporte de actividades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7085"/>
                </a:solidFill>
              </a:rPr>
              <a:t>08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5EEF"/>
                </a:solidFill>
              </a:rPr>
              <a:t>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Seguridad, configuracion y operacion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5EEF"/>
                </a:solidFill>
              </a:rPr>
              <a:t>Seguridad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929384"/>
            <a:ext cx="73152" cy="73152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987552" y="1874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Login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340864"/>
            <a:ext cx="73152" cy="73152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87552" y="22860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Sesion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752344"/>
            <a:ext cx="73152" cy="73152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987552" y="26974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Derechos por usuario/grupo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163824"/>
            <a:ext cx="73152" cy="73152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987552" y="31089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Tokens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575304"/>
            <a:ext cx="73152" cy="73152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987552" y="35204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Certificado HTTPS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986784"/>
            <a:ext cx="73152" cy="73152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987552" y="3931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Licencias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A058"/>
                </a:solidFill>
              </a:rPr>
              <a:t>Configuracion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17720" y="192938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782312" y="1874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BD config via archivo + FTP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17720" y="234086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782312" y="22860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Variables ambiente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275234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4782312" y="26974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Conexion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316382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4782312" y="31089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Usuarios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17720" y="357530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4782312" y="35204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Grupos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17720" y="398678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4782312" y="3931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Multilenguaje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6676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</a:rPr>
              <a:t>Operacion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412480" y="1929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8577072" y="1874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Displays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412480" y="234086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8577072" y="22860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Graficas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412480" y="275234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8577072" y="26974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Reportes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412480" y="316382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8577072" y="31089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Alarmas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412480" y="357530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8577072" y="35204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Dashboard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412480" y="39867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8577072" y="3931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Mensajes y errores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14400" y="5074920"/>
            <a:ext cx="10195560" cy="685800"/>
          </a:xfrm>
          <a:prstGeom prst="roundRect">
            <a:avLst>
              <a:gd name="adj" fmla="val 10667"/>
            </a:avLst>
          </a:prstGeom>
          <a:solidFill>
            <a:srgbClr val="FFF5E5"/>
          </a:solidFill>
          <a:ln w="889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1078992" y="5212080"/>
            <a:ext cx="98663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</a:rPr>
              <a:t>Punto de control PM: seguridad y derechos deben integrarse desde el inicio con menu, modulos, configuracion y multilenguaje para evitar retrabajo en UI y API.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0292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Ground | Reporte de actividades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7085"/>
                </a:solidFill>
              </a:rPr>
              <a:t>09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5EEF"/>
                </a:solidFill>
              </a:rPr>
              <a:t>PLAN DE ATAQUE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Priorizacion sugerida por dependencia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2D20"/>
                </a:solidFill>
              </a:rPr>
              <a:t>P0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325880" y="14173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</a:rPr>
              <a:t>Base de ejecucion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46120" y="1417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B263B"/>
                </a:solidFill>
              </a:rPr>
              <a:t>Jira/Confluence, Git, ambientes, Sonar/Jenkins/Pipes, certificado, contratos API.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8275320" y="141732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17085"/>
                </a:solidFill>
              </a:rPr>
              <a:t>Sin esto el equipo pierde trazabilidad y calidad.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685800" y="1929384"/>
            <a:ext cx="107442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713232" y="21305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5EEF"/>
                </a:solidFill>
              </a:rPr>
              <a:t>P1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25880" y="21305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</a:rPr>
              <a:t>Nucleo tecnico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46120" y="21305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B263B"/>
                </a:solidFill>
              </a:rPr>
              <a:t>Arquitectura MySQL/API/Angular/PHP, API Hook, API DB, seguridad, medidores/dispositivos/variables.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8275320" y="213055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17085"/>
                </a:solidFill>
              </a:rPr>
              <a:t>Habilita ingestion, consulta y control.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85800" y="2642616"/>
            <a:ext cx="107442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713232" y="28437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A058"/>
                </a:solidFill>
              </a:rPr>
              <a:t>P2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25880" y="284378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</a:rPr>
              <a:t>Producto base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46120" y="2843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B263B"/>
                </a:solidFill>
              </a:rPr>
              <a:t>Menu, modulos, Select, CRUD, catalogos, arbol, configuracion, reportes iniciales.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8275320" y="284378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17085"/>
                </a:solidFill>
              </a:rPr>
              <a:t>Permite operacion funcional.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85800" y="3355848"/>
            <a:ext cx="107442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713232" y="3557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</a:rPr>
              <a:t>P3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25880" y="355701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</a:rPr>
              <a:t>Analitica y operacion avanzada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46120" y="3557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B263B"/>
                </a:solidFill>
              </a:rPr>
              <a:t>Graficas, dashboard, alarmas, displays, historicos/tiempo real, mobile, respuestas automaticas.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8275320" y="355701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17085"/>
                </a:solidFill>
              </a:rPr>
              <a:t>Incrementa valor operativo y experiencia.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685800" y="4069080"/>
            <a:ext cx="107442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822960" y="4983480"/>
            <a:ext cx="1042416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889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987552" y="5120640"/>
            <a:ext cx="100949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</a:rPr>
              <a:t>Nota PM: las prioridades son sugeridas con base en dependencias tecnicas y operativas. Deben validarse con negocio, equipo tecnico y disponibilidad de recursos.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Ground | Reporte de actividades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7085"/>
                </a:solidFill>
              </a:rPr>
              <a:t>10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5EEF"/>
                </a:solidFill>
              </a:rPr>
              <a:t>SECUENCIA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de ejecucion propuesto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2194560" cy="0"/>
          </a:xfrm>
          <a:prstGeom prst="line">
            <a:avLst/>
          </a:prstGeom>
          <a:noFill/>
          <a:ln w="508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</a:rPr>
              <a:t>1. Preparacion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17085"/>
                </a:solidFill>
              </a:rPr>
              <a:t>Gobierno, backlog, repositorio, ambientes, calidad y documentacion.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03320" y="1920240"/>
            <a:ext cx="2194560" cy="0"/>
          </a:xfrm>
          <a:prstGeom prst="line">
            <a:avLst/>
          </a:prstGeom>
          <a:noFill/>
          <a:ln w="508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657600" y="21488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</a:rPr>
              <a:t>2. Fundacion tecnica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560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17085"/>
                </a:solidFill>
              </a:rPr>
              <a:t>BD, APIs, seguridad, contratos, medidores, variables y dispositivos.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0" y="1920240"/>
            <a:ext cx="2194560" cy="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446520" y="21488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</a:rPr>
              <a:t>3. Construccion UI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560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17085"/>
                </a:solidFill>
              </a:rPr>
              <a:t>Angular, menu, componentes, CRUD, select, configuracion y catalogos.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281160" y="1920240"/>
            <a:ext cx="2194560" cy="0"/>
          </a:xfrm>
          <a:prstGeom prst="line">
            <a:avLst/>
          </a:prstGeom>
          <a:noFill/>
          <a:ln w="508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9235440" y="21488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</a:rPr>
              <a:t>4. Operacion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235440" y="2560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17085"/>
                </a:solidFill>
              </a:rPr>
              <a:t>Telemetria, reportes, alarmas, dashboard, movilidad y automatizaciones.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</a:rPr>
              <a:t>Hitos de control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4626864"/>
            <a:ext cx="73152" cy="73152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078992" y="45720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Backlog clasificado y priorizado.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77640" y="462686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142232" y="45720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Pipeline con despliegue a STAGE.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23760" y="462686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7388352" y="4572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Contrato API y modelo BD aprobados.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506577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1078992" y="50109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Primer flujo CRUD + telemetria probado.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06440" y="5065776"/>
            <a:ext cx="73152" cy="73152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5971032" y="50109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Seguridad integrada con menu y derechos.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Ground | Reporte de actividades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7085"/>
                </a:solidFill>
              </a:rPr>
              <a:t>11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5EEF"/>
                </a:solidFill>
              </a:rPr>
              <a:t>CIERRE PM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Riesgos, bloqueadores y siguientes pasos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13258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55EEF"/>
                </a:solidFill>
              </a:rPr>
              <a:t>Riesgo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611880" y="13258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55EEF"/>
                </a:solidFill>
              </a:rPr>
              <a:t>Impacto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46520" y="132588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55EEF"/>
                </a:solidFill>
              </a:rPr>
              <a:t>Mitigacion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13232" y="1655064"/>
            <a:ext cx="1069848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49808" y="18013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Backlog sin prioridad ni responsable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11880" y="18013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Retrabajo y baja visibilidad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46520" y="180136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Asignar P0-P3, owner, fecha y evidencia.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130552"/>
            <a:ext cx="1069848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49808" y="22768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APIs sin contrato documentado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11880" y="227685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Integraciones fragiles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6520" y="227685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Versionar body, respuesta, errores y pruebas.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2606040"/>
            <a:ext cx="1069848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749808" y="27523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Ambientes incompletos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11880" y="27523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Liberaciones manuales y fallas en QA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275234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Cerrar DEV/STAGE/PROD + pipeline.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3232" y="3081528"/>
            <a:ext cx="1069848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749808" y="32278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Seguridad tardia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11880" y="32278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Cambios costosos en menu, API y derechos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322783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Incorporar tokens, sesion y permisos desde MVP.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3557016"/>
            <a:ext cx="1069848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7772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63B"/>
                </a:solidFill>
              </a:rPr>
              <a:t>Acciones inmediatas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68680" y="4837176"/>
            <a:ext cx="73152" cy="73152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1033272" y="47823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Depurar el listado en backlog por epica, feature, historia y tarea tecnica.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68680" y="5285232"/>
            <a:ext cx="73152" cy="73152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1033272" y="52303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Definir responsables y dependencias para P0 y P1.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4837176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6382512" y="47823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Aprobar arquitectura base: MySQL, API Hook, API DB, Angular, seguridad y DevOps.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5285232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6382512" y="52303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Crear tablero de seguimiento semanal con evidencias de avance.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Ground | Reporte de actividades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7085"/>
                </a:solidFill>
              </a:rPr>
              <a:t>12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1629</Words>
  <Application>Microsoft Office PowerPoint</Application>
  <PresentationFormat>Panorámica</PresentationFormat>
  <Paragraphs>250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Total Ground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de actividades - Total Ground</dc:title>
  <dc:subject>Reporte de actividades - Telemetria y plataforma</dc:subject>
  <dc:creator>OpenAI</dc:creator>
  <cp:lastModifiedBy>T G</cp:lastModifiedBy>
  <cp:revision>2</cp:revision>
  <dcterms:created xsi:type="dcterms:W3CDTF">2026-09-08T16:50:04Z</dcterms:created>
  <dcterms:modified xsi:type="dcterms:W3CDTF">2026-09-08T17:44:31Z</dcterms:modified>
</cp:coreProperties>
</file>